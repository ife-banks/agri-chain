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(NGN)</c:v>
                </c:pt>
              </c:strCache>
            </c:strRef>
          </c:tx>
          <c:spPr>
            <a:solidFill>
              <a:srgbClr val="4C8C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A2A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Engineering</c:v>
                  </c:pt>
                  <c:pt idx="1">
                    <c:v>Cloud Infra</c:v>
                  </c:pt>
                  <c:pt idx="2">
                    <c:v>Logistics Pilot</c:v>
                  </c:pt>
                  <c:pt idx="3">
                    <c:v>Acquisition</c:v>
                  </c:pt>
                  <c:pt idx="4">
                    <c:v>Compliance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1800000</c:v>
                </c:pt>
                <c:pt idx="1">
                  <c:v>600000</c:v>
                </c:pt>
                <c:pt idx="2">
                  <c:v>1200000</c:v>
                </c:pt>
                <c:pt idx="3">
                  <c:v>900000</c:v>
                </c:pt>
                <c:pt idx="4">
                  <c:v>500000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A2A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3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4C8C5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640080" cy="640080"/>
          </a:xfrm>
          <a:prstGeom prst="ellipse">
            <a:avLst/>
          </a:prstGeom>
          <a:solidFill>
            <a:srgbClr val="4C8C5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81381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71323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8FC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AGRI-CHAIN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Farm to Door, Verified Every Step.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agricultural commerce and logistics platform connecting farmers, buyers, and transporters across Nigeria — built on a tamper-evident order and delivery pipeline.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5806440"/>
            <a:ext cx="10515600" cy="18288"/>
          </a:xfrm>
          <a:prstGeom prst="rect">
            <a:avLst/>
          </a:prstGeom>
          <a:solidFill>
            <a:srgbClr val="2E5C46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Startup Pitch  </a:t>
            </a:r>
            <a:pPr indent="0" marL="0">
              <a:buNone/>
            </a:pPr>
            <a:r>
              <a:rPr lang="en-US" sz="12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Lean Canvas Submission  ·  Bankole Ifeoluwa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Nigeria's farm-to-table chain is broken in three places.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310128" cy="338328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377440"/>
            <a:ext cx="685800" cy="68580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1585" y="253174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246120"/>
            <a:ext cx="2761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Middlemen eat the margin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97280" y="3931920"/>
            <a:ext cx="2761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sell far below market value; buyers pay inflated prices. Neither side captures the value created.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53128" y="2057400"/>
            <a:ext cx="3310128" cy="338328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27448" y="2377440"/>
            <a:ext cx="685800" cy="68580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753" y="253174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27448" y="3246120"/>
            <a:ext cx="2761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is informal &amp; untracked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727448" y="3931920"/>
            <a:ext cx="2761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moves on ad-hoc arrangements with no live tracking, no accountability, and high spoilage in transit.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057400"/>
            <a:ext cx="3310128" cy="338328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377440"/>
            <a:ext cx="685800" cy="685800"/>
          </a:xfrm>
          <a:prstGeom prst="ellipse">
            <a:avLst/>
          </a:prstGeom>
          <a:solidFill>
            <a:srgbClr val="FBEA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921" y="253174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246120"/>
            <a:ext cx="2761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manual and easily faked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357616" y="3931920"/>
            <a:ext cx="2761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over delivery, quality, and even results have happened before — including fabricated screenshots used to misreport outcomes in past systems.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2960" y="57150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8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lower farmer income, higher buyer prices, and an industry that scales on trust it can't verify.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C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Three connected roles. Zero middlemen.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Agri-Chain is a multi-sided marketplace where farmers list produce directly, buyers order and pay digitally, and an integrated logistics layer moves goods with live, trackable delivery batches.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3310128" cy="2743200"/>
          </a:xfrm>
          <a:prstGeom prst="roundRect">
            <a:avLst>
              <a:gd name="adj" fmla="val 2667"/>
            </a:avLst>
          </a:prstGeom>
          <a:solidFill>
            <a:srgbClr val="1F4D38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990088"/>
            <a:ext cx="640080" cy="640080"/>
          </a:xfrm>
          <a:prstGeom prst="ellipse">
            <a:avLst/>
          </a:prstGeom>
          <a:solidFill>
            <a:srgbClr val="4C8C5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697" y="3124505"/>
            <a:ext cx="371246" cy="37124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776472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97280" y="4233672"/>
            <a:ext cx="2761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produce, manages stock &amp; price, fulfills orders from a dashboard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53128" y="2697480"/>
            <a:ext cx="3310128" cy="2743200"/>
          </a:xfrm>
          <a:prstGeom prst="roundRect">
            <a:avLst>
              <a:gd name="adj" fmla="val 2667"/>
            </a:avLst>
          </a:prstGeom>
          <a:solidFill>
            <a:srgbClr val="1F4D38"/>
          </a:solidFill>
          <a:ln/>
        </p:spPr>
      </p:sp>
      <p:sp>
        <p:nvSpPr>
          <p:cNvPr id="11" name="Shape 8"/>
          <p:cNvSpPr/>
          <p:nvPr/>
        </p:nvSpPr>
        <p:spPr>
          <a:xfrm>
            <a:off x="4727448" y="2990088"/>
            <a:ext cx="640080" cy="640080"/>
          </a:xfrm>
          <a:prstGeom prst="ellipse">
            <a:avLst/>
          </a:prstGeom>
          <a:solidFill>
            <a:srgbClr val="4C8C5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865" y="3124505"/>
            <a:ext cx="371246" cy="37124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27448" y="3776472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27448" y="4233672"/>
            <a:ext cx="2761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Browses, orders, pays via wallet or card, tracks delivery in real time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83296" y="2697480"/>
            <a:ext cx="3310128" cy="2743200"/>
          </a:xfrm>
          <a:prstGeom prst="roundRect">
            <a:avLst>
              <a:gd name="adj" fmla="val 2667"/>
            </a:avLst>
          </a:prstGeom>
          <a:solidFill>
            <a:srgbClr val="1F4D38"/>
          </a:solidFill>
          <a:ln/>
        </p:spPr>
      </p:sp>
      <p:sp>
        <p:nvSpPr>
          <p:cNvPr id="16" name="Shape 12"/>
          <p:cNvSpPr/>
          <p:nvPr/>
        </p:nvSpPr>
        <p:spPr>
          <a:xfrm>
            <a:off x="8357616" y="2990088"/>
            <a:ext cx="640080" cy="640080"/>
          </a:xfrm>
          <a:prstGeom prst="ellipse">
            <a:avLst/>
          </a:prstGeom>
          <a:solidFill>
            <a:srgbClr val="4C8C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3124505"/>
            <a:ext cx="371246" cy="37124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776472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357616" y="4233672"/>
            <a:ext cx="2761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&amp; vehicles assigned to delivery batches with live GPS tracking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22960" y="57150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C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an admin control layer overseeing users, orders, disputes, and platform-wide analytics.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listing to delivery, in five steps.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898294" cy="352044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0939" y="1764792"/>
            <a:ext cx="402336" cy="402336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6" name="Text 4"/>
          <p:cNvSpPr/>
          <p:nvPr/>
        </p:nvSpPr>
        <p:spPr>
          <a:xfrm>
            <a:off x="1570939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52067" y="2331720"/>
            <a:ext cx="640080" cy="64008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6085" y="2475738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200400"/>
            <a:ext cx="1623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87552" y="3703320"/>
            <a:ext cx="156911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posts produce with price, stock &amp; images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2739542" y="3703320"/>
            <a:ext cx="219456" cy="0"/>
          </a:xfrm>
          <a:prstGeom prst="line">
            <a:avLst/>
          </a:prstGeom>
          <a:noFill/>
          <a:ln w="25400">
            <a:solidFill>
              <a:srgbClr val="DCE3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77286" y="1965960"/>
            <a:ext cx="1898294" cy="352044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25266" y="1764792"/>
            <a:ext cx="402336" cy="402336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4" name="Text 11"/>
          <p:cNvSpPr/>
          <p:nvPr/>
        </p:nvSpPr>
        <p:spPr>
          <a:xfrm>
            <a:off x="3725266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606394" y="2331720"/>
            <a:ext cx="640080" cy="64008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412" y="2475738"/>
            <a:ext cx="352044" cy="3520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114446" y="3200400"/>
            <a:ext cx="1623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&amp; Order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3141878" y="3703320"/>
            <a:ext cx="156911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searches, filters, adds to cart, checks out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4893869" y="3703320"/>
            <a:ext cx="219456" cy="0"/>
          </a:xfrm>
          <a:prstGeom prst="line">
            <a:avLst/>
          </a:prstGeom>
          <a:noFill/>
          <a:ln w="25400">
            <a:solidFill>
              <a:srgbClr val="DCE3D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131613" y="1965960"/>
            <a:ext cx="1898294" cy="352044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879592" y="1764792"/>
            <a:ext cx="402336" cy="402336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22" name="Text 18"/>
          <p:cNvSpPr/>
          <p:nvPr/>
        </p:nvSpPr>
        <p:spPr>
          <a:xfrm>
            <a:off x="5879592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760720" y="2331720"/>
            <a:ext cx="640080" cy="64008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738" y="2475738"/>
            <a:ext cx="352044" cy="3520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68773" y="3200400"/>
            <a:ext cx="1623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5296205" y="3703320"/>
            <a:ext cx="156911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balance or card via Paystack</a:t>
            </a:r>
            <a:endParaRPr lang="en-US" sz="1080" dirty="0"/>
          </a:p>
        </p:txBody>
      </p:sp>
      <p:sp>
        <p:nvSpPr>
          <p:cNvPr id="27" name="Shape 22"/>
          <p:cNvSpPr/>
          <p:nvPr/>
        </p:nvSpPr>
        <p:spPr>
          <a:xfrm>
            <a:off x="7048195" y="3703320"/>
            <a:ext cx="219456" cy="0"/>
          </a:xfrm>
          <a:prstGeom prst="line">
            <a:avLst/>
          </a:prstGeom>
          <a:noFill/>
          <a:ln w="25400">
            <a:solidFill>
              <a:srgbClr val="DCE3D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285939" y="1965960"/>
            <a:ext cx="1898294" cy="352044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033918" y="1764792"/>
            <a:ext cx="402336" cy="402336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30" name="Text 25"/>
          <p:cNvSpPr/>
          <p:nvPr/>
        </p:nvSpPr>
        <p:spPr>
          <a:xfrm>
            <a:off x="8033918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7915046" y="2331720"/>
            <a:ext cx="640080" cy="64008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9064" y="2475738"/>
            <a:ext cx="352044" cy="35204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23099" y="3200400"/>
            <a:ext cx="1623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7450531" y="3703320"/>
            <a:ext cx="156911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assigned a delivery batch: driver + vehicle</a:t>
            </a:r>
            <a:endParaRPr lang="en-US" sz="1080" dirty="0"/>
          </a:p>
        </p:txBody>
      </p:sp>
      <p:sp>
        <p:nvSpPr>
          <p:cNvPr id="35" name="Shape 29"/>
          <p:cNvSpPr/>
          <p:nvPr/>
        </p:nvSpPr>
        <p:spPr>
          <a:xfrm>
            <a:off x="9202522" y="3703320"/>
            <a:ext cx="219456" cy="0"/>
          </a:xfrm>
          <a:prstGeom prst="line">
            <a:avLst/>
          </a:prstGeom>
          <a:noFill/>
          <a:ln w="25400">
            <a:solidFill>
              <a:srgbClr val="DCE3DB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440266" y="1965960"/>
            <a:ext cx="1898294" cy="352044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10188245" y="1764792"/>
            <a:ext cx="402336" cy="402336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38" name="Text 32"/>
          <p:cNvSpPr/>
          <p:nvPr/>
        </p:nvSpPr>
        <p:spPr>
          <a:xfrm>
            <a:off x="10188245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10069373" y="2331720"/>
            <a:ext cx="640080" cy="64008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3391" y="2475738"/>
            <a:ext cx="352044" cy="35204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577426" y="3200400"/>
            <a:ext cx="1623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&amp; Receive</a:t>
            </a:r>
            <a:endParaRPr lang="en-US" sz="1450" dirty="0"/>
          </a:p>
        </p:txBody>
      </p:sp>
      <p:sp>
        <p:nvSpPr>
          <p:cNvPr id="42" name="Text 35"/>
          <p:cNvSpPr/>
          <p:nvPr/>
        </p:nvSpPr>
        <p:spPr>
          <a:xfrm>
            <a:off x="9604858" y="3703320"/>
            <a:ext cx="156911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tracking until the buyer confirms delivery</a:t>
            </a:r>
            <a:endParaRPr lang="en-US" sz="1080" dirty="0"/>
          </a:p>
        </p:txBody>
      </p:sp>
      <p:sp>
        <p:nvSpPr>
          <p:cNvPr id="43" name="Text 36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each side of the market chooses Agri-Chain.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310128" cy="406908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86000"/>
            <a:ext cx="594360" cy="594360"/>
          </a:xfrm>
          <a:prstGeom prst="ellipse">
            <a:avLst/>
          </a:prstGeom>
          <a:solidFill>
            <a:srgbClr val="E8F1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011" y="241973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33172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Farmers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3108960"/>
            <a:ext cx="27614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direct, keep more margin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Storefront, inventory &amp; order dashboard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paid into an in-app wallet instantly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53128" y="1965960"/>
            <a:ext cx="3310128" cy="406908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27448" y="2286000"/>
            <a:ext cx="594360" cy="594360"/>
          </a:xfrm>
          <a:prstGeom prst="ellipse">
            <a:avLst/>
          </a:prstGeom>
          <a:solidFill>
            <a:srgbClr val="E5EE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179" y="241973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8968" y="233172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Buyers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27448" y="3108960"/>
            <a:ext cx="27614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farmers, transparent pricing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tracking from farm to door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payment: wallet, card, bank transfer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83296" y="1965960"/>
            <a:ext cx="3310128" cy="406908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286000"/>
            <a:ext cx="594360" cy="594360"/>
          </a:xfrm>
          <a:prstGeom prst="ellipse">
            <a:avLst/>
          </a:prstGeom>
          <a:solidFill>
            <a:srgbClr val="FBF0D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347" y="241973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89136" y="233172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Transporters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108960"/>
            <a:ext cx="27614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Steady, app-assigned delivery jobs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batches with clear routes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performance &amp; earnings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3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C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serve, first and next.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6309360" cy="4297680"/>
          </a:xfrm>
          <a:prstGeom prst="roundRect">
            <a:avLst>
              <a:gd name="adj" fmla="val 1702"/>
            </a:avLst>
          </a:prstGeom>
          <a:solidFill>
            <a:srgbClr val="1F4D38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9659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CB7E"/>
                </a:solidFill>
              </a:rPr>
              <a:t>PRIMARY SEGMENTS — LAUNCH MARKET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2423160"/>
            <a:ext cx="502920" cy="502920"/>
          </a:xfrm>
          <a:prstGeom prst="ellipse">
            <a:avLst/>
          </a:prstGeom>
          <a:solidFill>
            <a:srgbClr val="4C8C5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893" y="2528773"/>
            <a:ext cx="291694" cy="291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4048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Smallholder &amp; cooperative farmers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83080" y="275234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Vegetable, fruit, and grain growers in peri-urban Nigeria seeking direct market access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097280" y="3502152"/>
            <a:ext cx="502920" cy="502920"/>
          </a:xfrm>
          <a:prstGeom prst="ellipse">
            <a:avLst/>
          </a:prstGeom>
          <a:solidFill>
            <a:srgbClr val="4C8C5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893" y="3607765"/>
            <a:ext cx="291694" cy="291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4838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household &amp; SME buyers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783080" y="3831336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City-based consumers and small food businesses (restaurants, vendors) buying fresh produce regularly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1097280" y="4581144"/>
            <a:ext cx="502920" cy="502920"/>
          </a:xfrm>
          <a:prstGeom prst="ellipse">
            <a:avLst/>
          </a:prstGeom>
          <a:solidFill>
            <a:srgbClr val="4C8C5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893" y="4686757"/>
            <a:ext cx="291694" cy="2916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45628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transporters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783080" y="491032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and small fleet owners looking for structured, recurring delivery work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315200" y="1783080"/>
            <a:ext cx="4050792" cy="4297680"/>
          </a:xfrm>
          <a:prstGeom prst="roundRect">
            <a:avLst>
              <a:gd name="adj" fmla="val 1806"/>
            </a:avLst>
          </a:prstGeom>
          <a:solidFill>
            <a:srgbClr val="E0A23A"/>
          </a:solidFill>
          <a:ln/>
        </p:spPr>
      </p:sp>
      <p:sp>
        <p:nvSpPr>
          <p:cNvPr id="19" name="Text 14"/>
          <p:cNvSpPr/>
          <p:nvPr/>
        </p:nvSpPr>
        <p:spPr>
          <a:xfrm>
            <a:off x="758952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63C2C"/>
                </a:solidFill>
              </a:rPr>
              <a:t>EXPANSION SEGMENT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589520" y="2423160"/>
            <a:ext cx="640080" cy="640080"/>
          </a:xfrm>
          <a:prstGeom prst="ellipse">
            <a:avLst/>
          </a:prstGeom>
          <a:solidFill>
            <a:srgbClr val="163C2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937" y="2557577"/>
            <a:ext cx="371246" cy="37124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32004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Fish farmers, buyers &amp; cold-chain transport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589520" y="393192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vertical bringing aquaculture producers onto the same platform — detailed in our roadmap.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WORKING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isn't a concept — it's a running product.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3101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48840"/>
            <a:ext cx="502920" cy="50292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4717" y="226199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21408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Storefronts &amp; catalog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51560" y="278892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farmer runs a verified store with categories, stock, and pricing.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53128" y="1920240"/>
            <a:ext cx="33101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81728" y="2148840"/>
            <a:ext cx="502920" cy="50292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885" y="226199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1808" y="2121408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&amp; checkout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81728" y="278892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Multi-farmer cart, coupons, delivery fee &amp; platform fee computed automatically.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83296" y="1920240"/>
            <a:ext cx="33101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11896" y="2148840"/>
            <a:ext cx="502920" cy="50292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053" y="226199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51976" y="2121408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In-app wallet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11896" y="278892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Top-up, withdraw, and pay for orders without leaving the app.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22960" y="4114800"/>
            <a:ext cx="33101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51560" y="4343400"/>
            <a:ext cx="502920" cy="50292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717" y="445655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315968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batches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051560" y="498348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assigned a driver + vehicle; status moves Pending → Assigned → In Transit → Delivered.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53128" y="4114800"/>
            <a:ext cx="33101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81728" y="4343400"/>
            <a:ext cx="502920" cy="50292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4885" y="4456557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21808" y="4315968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tracking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81728" y="498348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lat/lng + speed events logged per delivery for full visibility.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83296" y="4114800"/>
            <a:ext cx="33101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11896" y="4343400"/>
            <a:ext cx="502920" cy="50292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5053" y="4456557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51976" y="4315968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oversight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11896" y="498348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admin app manages users, orders, stores, and platform health.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revenue lines, all already in the data model.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31012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58568"/>
            <a:ext cx="685800" cy="685800"/>
          </a:xfrm>
          <a:prstGeom prst="ellipse">
            <a:avLst/>
          </a:prstGeom>
          <a:solidFill>
            <a:srgbClr val="163C2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1585" y="2412873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32888" y="2331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8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315468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Commission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97280" y="3657600"/>
            <a:ext cx="2761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fee applied to every order's subtotal at checkout — the primary, highest-volume revenue line.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53128" y="1965960"/>
            <a:ext cx="331012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27448" y="2258568"/>
            <a:ext cx="685800" cy="685800"/>
          </a:xfrm>
          <a:prstGeom prst="ellipse">
            <a:avLst/>
          </a:prstGeom>
          <a:solidFill>
            <a:srgbClr val="163C2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753" y="2412873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63056" y="2331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8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order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27448" y="315468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Fees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727448" y="3657600"/>
            <a:ext cx="2761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Distance/weight-based delivery charge on every dispatched order, shared with transport partners.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83296" y="1965960"/>
            <a:ext cx="331012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7616" y="2258568"/>
            <a:ext cx="685800" cy="685800"/>
          </a:xfrm>
          <a:prstGeom prst="ellipse">
            <a:avLst/>
          </a:prstGeom>
          <a:solidFill>
            <a:srgbClr val="163C2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921" y="2412873"/>
            <a:ext cx="377190" cy="3771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793224" y="2331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8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57616" y="315468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Subscriptions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357616" y="3657600"/>
            <a:ext cx="2761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paid tiers for farmers/stores wanting premium placement, analytics, or lower commission rates.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22960" y="54406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scales with order volume, not headcount — the same platform fee logic applies across produce and the new fish vertical.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3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C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DIFFERENT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agri-apps stop at the catalog. We don't.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15600" cy="3840480"/>
        </p:xfrm>
        <a:graphic>
          <a:graphicData uri="http://schemas.openxmlformats.org/drawingml/2006/table">
            <a:tbl>
              <a:tblPr/>
              <a:tblGrid>
                <a:gridCol w="5120640"/>
                <a:gridCol w="2697480"/>
                <a:gridCol w="2697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Listing Apps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3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Agri-Chain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2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delivery tracking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5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08E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5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FC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53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In-app wallet &amp; payments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5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D8E5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(mostly off-platform)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5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FC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53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Multi-role logistics (drivers, vehicles, batches)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5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08E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5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FC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53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multi-sector expansion (e.g. fish + bus logistics)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5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08E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5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FC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53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oversight &amp; dispute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5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D8E5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5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FC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53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from a real lesson: results you can't fake.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version of one of our systems was undermined by fabricated, AI-generated result screenshots. That directly shaped how Agri-Chain handles every sensitive transaction today.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331012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971800"/>
            <a:ext cx="594360" cy="59436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011" y="3105531"/>
            <a:ext cx="326898" cy="3268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703320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 source of truth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4251960"/>
            <a:ext cx="2761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Order, payment, and delivery status all live in the backend — never derived from a screenshot or client claim.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53128" y="2697480"/>
            <a:ext cx="331012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27448" y="2971800"/>
            <a:ext cx="594360" cy="59436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179" y="3105531"/>
            <a:ext cx="326898" cy="3268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27448" y="3703320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Verifiable handoffs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727448" y="4251960"/>
            <a:ext cx="2761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QR-token based confirmation at pickup/delivery points, not manual sign-off.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83296" y="2697480"/>
            <a:ext cx="331012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57616" y="2971800"/>
            <a:ext cx="594360" cy="59436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347" y="3105531"/>
            <a:ext cx="326898" cy="32689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703320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 trail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57616" y="4251960"/>
            <a:ext cx="2761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 and tracking event is timestamped and stored, so disputes can be resolved with data, not screenshots.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6F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—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vertical: a Fish sector with container-based logistics.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farming needs a different fulfillment model than vegetables — live or fresh fish has to move in containers, sometimes via a third-party transporter when the farmer has no transport of their own.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2468880" cy="3246120"/>
          </a:xfrm>
          <a:prstGeom prst="roundRect">
            <a:avLst>
              <a:gd name="adj" fmla="val 2963"/>
            </a:avLst>
          </a:prstGeom>
          <a:solidFill>
            <a:srgbClr val="1C5571"/>
          </a:solidFill>
          <a:ln/>
        </p:spPr>
      </p:sp>
      <p:sp>
        <p:nvSpPr>
          <p:cNvPr id="6" name="Shape 4"/>
          <p:cNvSpPr/>
          <p:nvPr/>
        </p:nvSpPr>
        <p:spPr>
          <a:xfrm>
            <a:off x="1874520" y="2560320"/>
            <a:ext cx="365760" cy="365760"/>
          </a:xfrm>
          <a:prstGeom prst="ellipse">
            <a:avLst/>
          </a:prstGeom>
          <a:solidFill>
            <a:srgbClr val="E0A23A"/>
          </a:solidFill>
          <a:ln/>
        </p:spPr>
      </p:sp>
      <p:sp>
        <p:nvSpPr>
          <p:cNvPr id="7" name="Text 5"/>
          <p:cNvSpPr/>
          <p:nvPr/>
        </p:nvSpPr>
        <p:spPr>
          <a:xfrm>
            <a:off x="187452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C2C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83080" y="3063240"/>
            <a:ext cx="548640" cy="548640"/>
          </a:xfrm>
          <a:prstGeom prst="ellipse">
            <a:avLst/>
          </a:prstGeom>
          <a:solidFill>
            <a:srgbClr val="256B8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524" y="318668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 onboards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87552" y="4343400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fish farmer; if the farmer has no transport, also selects a bus.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520440" y="2743200"/>
            <a:ext cx="2468880" cy="3246120"/>
          </a:xfrm>
          <a:prstGeom prst="roundRect">
            <a:avLst>
              <a:gd name="adj" fmla="val 2963"/>
            </a:avLst>
          </a:prstGeom>
          <a:solidFill>
            <a:srgbClr val="1C5571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0" y="2560320"/>
            <a:ext cx="365760" cy="365760"/>
          </a:xfrm>
          <a:prstGeom prst="ellipse">
            <a:avLst/>
          </a:prstGeom>
          <a:solidFill>
            <a:srgbClr val="E0A23A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C2C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80560" y="3063240"/>
            <a:ext cx="548640" cy="548640"/>
          </a:xfrm>
          <a:prstGeom prst="ellipse">
            <a:avLst/>
          </a:prstGeom>
          <a:solidFill>
            <a:srgbClr val="256B8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004" y="3186684"/>
            <a:ext cx="301752" cy="3017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5760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picked up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685032" y="4343400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collects an empty container from the buyer first.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217920" y="2743200"/>
            <a:ext cx="2468880" cy="3246120"/>
          </a:xfrm>
          <a:prstGeom prst="roundRect">
            <a:avLst>
              <a:gd name="adj" fmla="val 2963"/>
            </a:avLst>
          </a:prstGeom>
          <a:solidFill>
            <a:srgbClr val="1C5571"/>
          </a:solidFill>
          <a:ln/>
        </p:spPr>
      </p:sp>
      <p:sp>
        <p:nvSpPr>
          <p:cNvPr id="20" name="Shape 16"/>
          <p:cNvSpPr/>
          <p:nvPr/>
        </p:nvSpPr>
        <p:spPr>
          <a:xfrm>
            <a:off x="7269480" y="2560320"/>
            <a:ext cx="365760" cy="365760"/>
          </a:xfrm>
          <a:prstGeom prst="ellipse">
            <a:avLst/>
          </a:prstGeom>
          <a:solidFill>
            <a:srgbClr val="E0A23A"/>
          </a:solidFill>
          <a:ln/>
        </p:spPr>
      </p:sp>
      <p:sp>
        <p:nvSpPr>
          <p:cNvPr id="21" name="Text 17"/>
          <p:cNvSpPr/>
          <p:nvPr/>
        </p:nvSpPr>
        <p:spPr>
          <a:xfrm>
            <a:off x="726948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C2C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7178040" y="3063240"/>
            <a:ext cx="548640" cy="548640"/>
          </a:xfrm>
          <a:prstGeom prst="ellipse">
            <a:avLst/>
          </a:prstGeom>
          <a:solidFill>
            <a:srgbClr val="256B8C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484" y="3186684"/>
            <a:ext cx="301752" cy="30175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5508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Loaded at farm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382512" y="4343400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delivers the container to the farmer; fish is loaded in.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8915400" y="2743200"/>
            <a:ext cx="2468880" cy="3246120"/>
          </a:xfrm>
          <a:prstGeom prst="roundRect">
            <a:avLst>
              <a:gd name="adj" fmla="val 2963"/>
            </a:avLst>
          </a:prstGeom>
          <a:solidFill>
            <a:srgbClr val="1C5571"/>
          </a:solidFill>
          <a:ln/>
        </p:spPr>
      </p:sp>
      <p:sp>
        <p:nvSpPr>
          <p:cNvPr id="27" name="Shape 22"/>
          <p:cNvSpPr/>
          <p:nvPr/>
        </p:nvSpPr>
        <p:spPr>
          <a:xfrm>
            <a:off x="9966960" y="2560320"/>
            <a:ext cx="365760" cy="365760"/>
          </a:xfrm>
          <a:prstGeom prst="ellipse">
            <a:avLst/>
          </a:prstGeom>
          <a:solidFill>
            <a:srgbClr val="E0A23A"/>
          </a:solidFill>
          <a:ln/>
        </p:spPr>
      </p:sp>
      <p:sp>
        <p:nvSpPr>
          <p:cNvPr id="28" name="Text 23"/>
          <p:cNvSpPr/>
          <p:nvPr/>
        </p:nvSpPr>
        <p:spPr>
          <a:xfrm>
            <a:off x="996696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C2C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9875520" y="3063240"/>
            <a:ext cx="548640" cy="548640"/>
          </a:xfrm>
          <a:prstGeom prst="ellipse">
            <a:avLst/>
          </a:prstGeom>
          <a:solidFill>
            <a:srgbClr val="256B8C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8964" y="3186684"/>
            <a:ext cx="301752" cy="30175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05256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Returned full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9079992" y="4343400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brings the now-full container back to the buyer.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822960" y="61722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existing logistics module — new vehicle type (Bus) + a tracked container entity, extending what's already in production rather than forking it.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THE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takes to scale Agri-Chain over 12 months.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783080"/>
          <a:ext cx="54864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37960" y="1783080"/>
            <a:ext cx="4800600" cy="3520440"/>
          </a:xfrm>
          <a:prstGeom prst="roundRect">
            <a:avLst>
              <a:gd name="adj" fmla="val 2078"/>
            </a:avLst>
          </a:prstGeom>
          <a:solidFill>
            <a:srgbClr val="163C2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0" y="1993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CB7E"/>
                </a:solidFill>
              </a:rPr>
              <a:t>TOTAL SEED ASK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0" y="224942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NGN 5.0M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858000" y="303580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$3,000–3,300 at current exchange rates — a 12-month runway to full multi-sector launch.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858000" y="3657600"/>
            <a:ext cx="4023360" cy="0"/>
          </a:xfrm>
          <a:prstGeom prst="line">
            <a:avLst/>
          </a:prstGeom>
          <a:noFill/>
          <a:ln w="12700">
            <a:solidFill>
              <a:srgbClr val="2E5C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0" y="3794760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frontend, QA — 3-person team, 6 months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DB, storage, CI/CD, monitoring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subsidizing first transport partners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22960" y="62636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planning estimates for a Nigeria-based pilot scale-up, not audited financials.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modern, modular stack built for fast iteration.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3101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48840"/>
            <a:ext cx="502920" cy="50292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4717" y="226199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03120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— NestJS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278892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API: auth, users, stores, products, orders, wallet, logistics, coupons, notifications, admin.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53128" y="1920240"/>
            <a:ext cx="33101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81728" y="2148840"/>
            <a:ext cx="502920" cy="50292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885" y="226199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1808" y="2103120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— Next.js 14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81728" y="278892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buyer/farmer web app and admin dashboard, sharing a typed component &amp; schema library.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83296" y="1920240"/>
            <a:ext cx="33101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11896" y="2148840"/>
            <a:ext cx="502920" cy="50292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053" y="226199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51976" y="2103120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packages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11896" y="278892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@aisuce/ui, @aisuce/types, @aisuce/schemas — one source of truth for types and design tokens across apps.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22960" y="4114800"/>
            <a:ext cx="33101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51560" y="4343400"/>
            <a:ext cx="502920" cy="50292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717" y="445655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297680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engine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051560" y="498348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Driver, Vehicle, DeliveryBatch &amp; TrackingEvent entities power real-time delivery status.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53128" y="4114800"/>
            <a:ext cx="33101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81728" y="4343400"/>
            <a:ext cx="502920" cy="50292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4885" y="4456557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21808" y="4297680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81728" y="498348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integration plus an internal wallet ledger for instant in-platform settlement.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83296" y="4114800"/>
            <a:ext cx="33101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11896" y="4343400"/>
            <a:ext cx="502920" cy="502920"/>
          </a:xfrm>
          <a:prstGeom prst="ellipse">
            <a:avLst/>
          </a:prstGeom>
          <a:solidFill>
            <a:srgbClr val="EFF3E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5053" y="4456557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51976" y="4297680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11896" y="498348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via TypeORM, with migrations — no untracked schema drift.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3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C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Nigeria's agri-commerce market is large and underserved online.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1F4D3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331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05840" y="32004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Nigeria's workforce is linked to agriculture, the country's largest economic sector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38728" y="210312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1F4D38"/>
          </a:solidFill>
          <a:ln/>
        </p:spPr>
      </p:sp>
      <p:sp>
        <p:nvSpPr>
          <p:cNvPr id="8" name="Text 6"/>
          <p:cNvSpPr/>
          <p:nvPr/>
        </p:nvSpPr>
        <p:spPr>
          <a:xfrm>
            <a:off x="3721608" y="2331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721608" y="32004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farm produce sales currently happen through any digital marketplace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54496" y="210312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1F4D38"/>
          </a:solidFill>
          <a:ln/>
        </p:spPr>
      </p:sp>
      <p:sp>
        <p:nvSpPr>
          <p:cNvPr id="11" name="Text 9"/>
          <p:cNvSpPr/>
          <p:nvPr/>
        </p:nvSpPr>
        <p:spPr>
          <a:xfrm>
            <a:off x="6437376" y="2331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NGN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37376" y="32004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lost yearly to post-harvest spoilage from poor logistics &amp; storage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70264" y="210312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1F4D38"/>
          </a:solidFill>
          <a:ln/>
        </p:spPr>
      </p:sp>
      <p:sp>
        <p:nvSpPr>
          <p:cNvPr id="14" name="Text 12"/>
          <p:cNvSpPr/>
          <p:nvPr/>
        </p:nvSpPr>
        <p:spPr>
          <a:xfrm>
            <a:off x="9153144" y="2331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53144" y="32004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sides of the market — farmer, buyer, transporter — Agri-Chain serves in one app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7548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penetration, growing digital payments adoption, and zero dominant player in agri-logistics make this the right entry window.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3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6400800" cy="6400800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40080"/>
            <a:ext cx="594360" cy="594360"/>
          </a:xfrm>
          <a:prstGeom prst="ellipse">
            <a:avLst/>
          </a:prstGeom>
          <a:solidFill>
            <a:srgbClr val="4C8C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758952"/>
            <a:ext cx="356616" cy="356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6675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C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AGRI-CHAIN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21031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connect Nigeria's farms to its tables — verifiably.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produce marketplace, wallet, and logistics engine are live. The ask: seed funding to scale transport capacity and ship the Fish sector.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4434840"/>
            <a:ext cx="3310128" cy="1371600"/>
          </a:xfrm>
          <a:prstGeom prst="roundRect">
            <a:avLst>
              <a:gd name="adj" fmla="val 5333"/>
            </a:avLst>
          </a:prstGeom>
          <a:solidFill>
            <a:srgbClr val="1F4D38"/>
          </a:solidFill>
          <a:ln/>
        </p:spPr>
      </p:sp>
      <p:sp>
        <p:nvSpPr>
          <p:cNvPr id="9" name="Shape 6"/>
          <p:cNvSpPr/>
          <p:nvPr/>
        </p:nvSpPr>
        <p:spPr>
          <a:xfrm>
            <a:off x="1051560" y="4800600"/>
            <a:ext cx="640080" cy="640080"/>
          </a:xfrm>
          <a:prstGeom prst="ellipse">
            <a:avLst/>
          </a:prstGeom>
          <a:solidFill>
            <a:srgbClr val="4C8C5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578" y="4944618"/>
            <a:ext cx="352044" cy="3520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46360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NGN 5.0M seed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828800" y="505663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scale-up runway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453128" y="4434840"/>
            <a:ext cx="3310128" cy="1371600"/>
          </a:xfrm>
          <a:prstGeom prst="roundRect">
            <a:avLst>
              <a:gd name="adj" fmla="val 5333"/>
            </a:avLst>
          </a:prstGeom>
          <a:solidFill>
            <a:srgbClr val="1F4D38"/>
          </a:solidFill>
          <a:ln/>
        </p:spPr>
      </p:sp>
      <p:sp>
        <p:nvSpPr>
          <p:cNvPr id="14" name="Shape 10"/>
          <p:cNvSpPr/>
          <p:nvPr/>
        </p:nvSpPr>
        <p:spPr>
          <a:xfrm>
            <a:off x="4681728" y="4800600"/>
            <a:ext cx="640080" cy="640080"/>
          </a:xfrm>
          <a:prstGeom prst="ellipse">
            <a:avLst/>
          </a:prstGeom>
          <a:solidFill>
            <a:srgbClr val="4C8C5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746" y="4944618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58968" y="46360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Fish sector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458968" y="505663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logistics, next vertical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083296" y="4434840"/>
            <a:ext cx="3310128" cy="1371600"/>
          </a:xfrm>
          <a:prstGeom prst="roundRect">
            <a:avLst>
              <a:gd name="adj" fmla="val 5333"/>
            </a:avLst>
          </a:prstGeom>
          <a:solidFill>
            <a:srgbClr val="1F4D38"/>
          </a:solidFill>
          <a:ln/>
        </p:spPr>
      </p:sp>
      <p:sp>
        <p:nvSpPr>
          <p:cNvPr id="19" name="Shape 14"/>
          <p:cNvSpPr/>
          <p:nvPr/>
        </p:nvSpPr>
        <p:spPr>
          <a:xfrm>
            <a:off x="8311896" y="4800600"/>
            <a:ext cx="640080" cy="640080"/>
          </a:xfrm>
          <a:prstGeom prst="ellipse">
            <a:avLst/>
          </a:prstGeom>
          <a:solidFill>
            <a:srgbClr val="4C8C5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914" y="4944618"/>
            <a:ext cx="352044" cy="3520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89136" y="46360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partners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089136" y="505663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Farmers, buyers, drivers to onboard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Bankole Ifeoluwa  ·  Developer &amp; Founder, Agri-Chain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Agri-Chain — Pitch Deck</dc:title>
  <dc:subject>PptxGenJS Presentation</dc:subject>
  <dc:creator>Bankole Ifeoluwa</dc:creator>
  <cp:lastModifiedBy>Bankole Ifeoluwa</cp:lastModifiedBy>
  <cp:revision>1</cp:revision>
  <dcterms:created xsi:type="dcterms:W3CDTF">2026-06-23T10:20:41Z</dcterms:created>
  <dcterms:modified xsi:type="dcterms:W3CDTF">2026-06-23T10:20:41Z</dcterms:modified>
</cp:coreProperties>
</file>